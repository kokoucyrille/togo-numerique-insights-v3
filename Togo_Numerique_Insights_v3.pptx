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 Internet (%)</c:v>
                </c:pt>
              </c:strCache>
            </c:strRef>
          </c:tx>
          <c:spPr>
            <a:ln w="38100" cap="flat">
              <a:solidFill>
                <a:srgbClr val="0E9F6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2000</c:v>
                </c:pt>
                <c:pt idx="1">
                  <c:v> </c:v>
                </c:pt>
                <c:pt idx="2">
                  <c:v>  </c:v>
                </c:pt>
                <c:pt idx="3">
                  <c:v>   </c:v>
                </c:pt>
                <c:pt idx="4">
                  <c:v>2004</c:v>
                </c:pt>
                <c:pt idx="5">
                  <c:v> </c:v>
                </c:pt>
                <c:pt idx="6">
                  <c:v>  </c:v>
                </c:pt>
                <c:pt idx="7">
                  <c:v>   </c:v>
                </c:pt>
                <c:pt idx="8">
                  <c:v>2008</c:v>
                </c:pt>
                <c:pt idx="9">
                  <c:v> </c:v>
                </c:pt>
                <c:pt idx="10">
                  <c:v>  </c:v>
                </c:pt>
                <c:pt idx="11">
                  <c:v>   </c:v>
                </c:pt>
                <c:pt idx="12">
                  <c:v>2012</c:v>
                </c:pt>
                <c:pt idx="13">
                  <c:v> </c:v>
                </c:pt>
                <c:pt idx="14">
                  <c:v>  </c:v>
                </c:pt>
                <c:pt idx="15">
                  <c:v>   </c:v>
                </c:pt>
                <c:pt idx="16">
                  <c:v>2016</c:v>
                </c:pt>
                <c:pt idx="17">
                  <c:v> </c:v>
                </c:pt>
                <c:pt idx="18">
                  <c:v>  </c:v>
                </c:pt>
                <c:pt idx="19">
                  <c:v>   </c:v>
                </c:pt>
                <c:pt idx="20">
                  <c:v>2020</c:v>
                </c:pt>
                <c:pt idx="21">
                  <c:v> </c:v>
                </c:pt>
                <c:pt idx="22">
                  <c:v>  </c:v>
                </c:pt>
                <c:pt idx="23">
                  <c:v>   </c:v>
                </c:pt>
                <c:pt idx="24">
                  <c:v>2024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0.8</c:v>
                </c:pt>
                <c:pt idx="1">
                  <c:v>0.9</c:v>
                </c:pt>
                <c:pt idx="2">
                  <c:v>1</c:v>
                </c:pt>
                <c:pt idx="3">
                  <c:v>1.2</c:v>
                </c:pt>
                <c:pt idx="4">
                  <c:v>1.5</c:v>
                </c:pt>
                <c:pt idx="5">
                  <c:v>1.8</c:v>
                </c:pt>
                <c:pt idx="6">
                  <c:v>2</c:v>
                </c:pt>
                <c:pt idx="7">
                  <c:v>2.2000000000000002</c:v>
                </c:pt>
                <c:pt idx="8">
                  <c:v>2.4</c:v>
                </c:pt>
                <c:pt idx="9">
                  <c:v>2.6</c:v>
                </c:pt>
                <c:pt idx="10">
                  <c:v>3</c:v>
                </c:pt>
                <c:pt idx="11">
                  <c:v>3.5</c:v>
                </c:pt>
                <c:pt idx="12">
                  <c:v>4</c:v>
                </c:pt>
                <c:pt idx="13">
                  <c:v>4.5</c:v>
                </c:pt>
                <c:pt idx="14">
                  <c:v>5.7</c:v>
                </c:pt>
                <c:pt idx="15">
                  <c:v>7.12</c:v>
                </c:pt>
                <c:pt idx="16">
                  <c:v>11.31</c:v>
                </c:pt>
                <c:pt idx="17">
                  <c:v>12.36</c:v>
                </c:pt>
                <c:pt idx="18">
                  <c:v>15.5</c:v>
                </c:pt>
                <c:pt idx="19">
                  <c:v>20.73</c:v>
                </c:pt>
                <c:pt idx="20">
                  <c:v>29.02</c:v>
                </c:pt>
                <c:pt idx="21">
                  <c:v>30.34</c:v>
                </c:pt>
                <c:pt idx="22">
                  <c:v>35.61</c:v>
                </c:pt>
                <c:pt idx="23">
                  <c:v>37.57</c:v>
                </c:pt>
                <c:pt idx="24">
                  <c:v>39.479999999999997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24-42F0-90FE-C6645E9831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6EBF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2G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53.47</c:v>
                </c:pt>
                <c:pt idx="1">
                  <c:v>60.07</c:v>
                </c:pt>
                <c:pt idx="2">
                  <c:v>48.38</c:v>
                </c:pt>
                <c:pt idx="3">
                  <c:v>5.52</c:v>
                </c:pt>
                <c:pt idx="4">
                  <c:v>22.62</c:v>
                </c:pt>
                <c:pt idx="5">
                  <c:v>31.03</c:v>
                </c:pt>
                <c:pt idx="6">
                  <c:v>39.340000000000003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C4-4281-8610-CD4B38073F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3G</c:v>
                </c:pt>
              </c:strCache>
            </c:strRef>
          </c:tx>
          <c:spPr>
            <a:solidFill>
              <a:srgbClr val="0E9F6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46.53</c:v>
                </c:pt>
                <c:pt idx="1">
                  <c:v>39.93</c:v>
                </c:pt>
                <c:pt idx="2">
                  <c:v>51.62</c:v>
                </c:pt>
                <c:pt idx="3">
                  <c:v>94.48</c:v>
                </c:pt>
                <c:pt idx="4">
                  <c:v>77.38</c:v>
                </c:pt>
                <c:pt idx="5">
                  <c:v>65.59</c:v>
                </c:pt>
                <c:pt idx="6">
                  <c:v>55.5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C4-4281-8610-CD4B38073F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4G</c:v>
                </c:pt>
              </c:strCache>
            </c:strRef>
          </c:tx>
          <c:spPr>
            <a:solidFill>
              <a:srgbClr val="FFCE0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3.38</c:v>
                </c:pt>
                <c:pt idx="6">
                  <c:v>5.16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C4-4281-8610-CD4B38073F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BF1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Abonnés GSM</c:v>
                </c:pt>
              </c:strCache>
            </c:strRef>
          </c:tx>
          <c:spPr>
            <a:ln w="38100" cap="flat">
              <a:solidFill>
                <a:srgbClr val="0E9F6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9F6E"/>
              </a:solidFill>
              <a:ln w="9525" cap="flat">
                <a:solidFill>
                  <a:srgbClr val="0E9F6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113.6</c:v>
                </c:pt>
                <c:pt idx="2">
                  <c:v>125.4</c:v>
                </c:pt>
                <c:pt idx="3">
                  <c:v>144.1</c:v>
                </c:pt>
                <c:pt idx="4">
                  <c:v>163.4</c:v>
                </c:pt>
                <c:pt idx="5">
                  <c:v>165.4</c:v>
                </c:pt>
                <c:pt idx="6">
                  <c:v>168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6C-464D-9D18-BDB2504F9B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Chiffre d'affaires</c:v>
                </c:pt>
              </c:strCache>
            </c:strRef>
          </c:tx>
          <c:spPr>
            <a:ln w="38100" cap="flat">
              <a:solidFill>
                <a:srgbClr val="D2103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21034"/>
              </a:solidFill>
              <a:ln w="9525" cap="flat">
                <a:solidFill>
                  <a:srgbClr val="D21034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105.3</c:v>
                </c:pt>
                <c:pt idx="2">
                  <c:v>111.7</c:v>
                </c:pt>
                <c:pt idx="3">
                  <c:v>105</c:v>
                </c:pt>
                <c:pt idx="4">
                  <c:v>99.9</c:v>
                </c:pt>
                <c:pt idx="5">
                  <c:v>99.2</c:v>
                </c:pt>
                <c:pt idx="6">
                  <c:v>103.5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6C-464D-9D18-BDB2504F9B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0"/>
          <c:min val="80"/>
        </c:scaling>
        <c:delete val="0"/>
        <c:axPos val="l"/>
        <c:majorGridlines>
          <c:spPr>
            <a:ln w="635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Savanes</c:v>
                </c:pt>
                <c:pt idx="1">
                  <c:v>Kara</c:v>
                </c:pt>
                <c:pt idx="2">
                  <c:v>Centrale</c:v>
                </c:pt>
                <c:pt idx="3">
                  <c:v>Plateaux</c:v>
                </c:pt>
                <c:pt idx="4">
                  <c:v>Maritime int.</c:v>
                </c:pt>
                <c:pt idx="5">
                  <c:v>Grand Lomé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14.1</c:v>
                </c:pt>
                <c:pt idx="1">
                  <c:v>12.2</c:v>
                </c:pt>
                <c:pt idx="2">
                  <c:v>9.8000000000000007</c:v>
                </c:pt>
                <c:pt idx="3">
                  <c:v>20.2</c:v>
                </c:pt>
                <c:pt idx="4">
                  <c:v>16.600000000000001</c:v>
                </c:pt>
                <c:pt idx="5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CA-4E7A-8B05-A9743A394F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Établissements formels</c:v>
                </c:pt>
              </c:strCache>
            </c:strRef>
          </c:tx>
          <c:spPr>
            <a:solidFill>
              <a:srgbClr val="006A4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Savanes</c:v>
                </c:pt>
                <c:pt idx="1">
                  <c:v>Kara</c:v>
                </c:pt>
                <c:pt idx="2">
                  <c:v>Centrale</c:v>
                </c:pt>
                <c:pt idx="3">
                  <c:v>Plateaux</c:v>
                </c:pt>
                <c:pt idx="4">
                  <c:v>Maritime int.</c:v>
                </c:pt>
                <c:pt idx="5">
                  <c:v>Grand Lomé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8.4</c:v>
                </c:pt>
                <c:pt idx="1">
                  <c:v>11.6</c:v>
                </c:pt>
                <c:pt idx="2">
                  <c:v>8.6</c:v>
                </c:pt>
                <c:pt idx="3">
                  <c:v>14.8</c:v>
                </c:pt>
                <c:pt idx="4">
                  <c:v>15.3</c:v>
                </c:pt>
                <c:pt idx="5">
                  <c:v>41.3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CA-4E7A-8B05-A9743A394F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9F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F9C-4648-9301-77F5237FE1E2}"/>
              </c:ext>
            </c:extLst>
          </c:dPt>
          <c:dPt>
            <c:idx val="1"/>
            <c:bubble3D val="0"/>
            <c:spPr>
              <a:solidFill>
                <a:srgbClr val="0B1F3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9C-4648-9301-77F5237FE1E2}"/>
              </c:ext>
            </c:extLst>
          </c:dPt>
          <c:dPt>
            <c:idx val="2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9C-4648-9301-77F5237FE1E2}"/>
              </c:ext>
            </c:extLst>
          </c:dPt>
          <c:dPt>
            <c:idx val="3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9C-4648-9301-77F5237FE1E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F9C-4648-9301-77F5237FE1E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F9C-4648-9301-77F5237FE1E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F9C-4648-9301-77F5237FE1E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F9C-4648-9301-77F5237FE1E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Moov + Togocom</c:v>
                </c:pt>
                <c:pt idx="1">
                  <c:v>Togocom seul</c:v>
                </c:pt>
                <c:pt idx="2">
                  <c:v>Moov seul</c:v>
                </c:pt>
                <c:pt idx="3">
                  <c:v>Non spécifié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12649</c:v>
                </c:pt>
                <c:pt idx="1">
                  <c:v>4773</c:v>
                </c:pt>
                <c:pt idx="2">
                  <c:v>1018</c:v>
                </c:pt>
                <c:pt idx="3">
                  <c:v>1348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9C-4648-9301-77F5237FE1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Communes</c:v>
                </c:pt>
              </c:strCache>
            </c:strRef>
          </c:tx>
          <c:spPr>
            <a:solidFill>
              <a:srgbClr val="D2103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4155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Kara</c:v>
                </c:pt>
                <c:pt idx="1">
                  <c:v>Plateaux</c:v>
                </c:pt>
                <c:pt idx="2">
                  <c:v>Savanes</c:v>
                </c:pt>
                <c:pt idx="3">
                  <c:v>Centrale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94-4D8D-ADAC-4282E3EA1E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IB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AF-4ADA-940A-B434429607E1}"/>
              </c:ext>
            </c:extLst>
          </c:dPt>
          <c:dPt>
            <c:idx val="1"/>
            <c:invertIfNegative val="0"/>
            <c:bubble3D val="0"/>
            <c:spPr>
              <a:solidFill>
                <a:srgbClr val="D210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AF-4ADA-940A-B434429607E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9AF-4ADA-940A-B434429607E1}"/>
              </c:ext>
            </c:extLst>
          </c:dPt>
          <c:dPt>
            <c:idx val="3"/>
            <c:invertIfNegative val="0"/>
            <c:bubble3D val="0"/>
            <c:spPr>
              <a:solidFill>
                <a:srgbClr val="D210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9AF-4ADA-940A-B434429607E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9AF-4ADA-940A-B434429607E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9AF-4ADA-940A-B434429607E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9AF-4ADA-940A-B434429607E1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9AF-4ADA-940A-B434429607E1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09AF-4ADA-940A-B434429607E1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09AF-4ADA-940A-B434429607E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334155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Dankpen 3</c:v>
                </c:pt>
                <c:pt idx="1">
                  <c:v>Tone 4</c:v>
                </c:pt>
                <c:pt idx="2">
                  <c:v>Keran 2</c:v>
                </c:pt>
                <c:pt idx="3">
                  <c:v>Haho 3</c:v>
                </c:pt>
                <c:pt idx="4">
                  <c:v>Kpendjal 1</c:v>
                </c:pt>
                <c:pt idx="5">
                  <c:v>Blitta 3</c:v>
                </c:pt>
                <c:pt idx="6">
                  <c:v>Tone 2</c:v>
                </c:pt>
                <c:pt idx="7">
                  <c:v>Kpendjal 2</c:v>
                </c:pt>
                <c:pt idx="8">
                  <c:v>Keran 3</c:v>
                </c:pt>
                <c:pt idx="9">
                  <c:v>Akebou 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91.7</c:v>
                </c:pt>
                <c:pt idx="1">
                  <c:v>89.3</c:v>
                </c:pt>
                <c:pt idx="2">
                  <c:v>87.8</c:v>
                </c:pt>
                <c:pt idx="3">
                  <c:v>86.8</c:v>
                </c:pt>
                <c:pt idx="4">
                  <c:v>86.7</c:v>
                </c:pt>
                <c:pt idx="5">
                  <c:v>84.2</c:v>
                </c:pt>
                <c:pt idx="6">
                  <c:v>83.1</c:v>
                </c:pt>
                <c:pt idx="7">
                  <c:v>82.5</c:v>
                </c:pt>
                <c:pt idx="8">
                  <c:v>79.7</c:v>
                </c:pt>
                <c:pt idx="9">
                  <c:v>79.599999999999994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9AF-4ADA-940A-B434429607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</c:v>
                </c:pt>
              </c:strCache>
            </c:strRef>
          </c:tx>
          <c:spPr>
            <a:solidFill>
              <a:srgbClr val="0B1F33"/>
            </a:solidFill>
            <a:effectLst/>
          </c:spPr>
          <c:invertIfNegative val="0"/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334155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Plateaux</c:v>
                </c:pt>
                <c:pt idx="1">
                  <c:v>Savanes</c:v>
                </c:pt>
                <c:pt idx="2">
                  <c:v>Kara</c:v>
                </c:pt>
                <c:pt idx="3">
                  <c:v>Centrale</c:v>
                </c:pt>
                <c:pt idx="4">
                  <c:v>Grand Lomé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429693</c:v>
                </c:pt>
                <c:pt idx="1">
                  <c:v>332268</c:v>
                </c:pt>
                <c:pt idx="2">
                  <c:v>280699</c:v>
                </c:pt>
                <c:pt idx="3">
                  <c:v>172802</c:v>
                </c:pt>
                <c:pt idx="4">
                  <c:v>154431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53-4CAF-8069-046F1DF118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6000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880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: rapport du Data Challenge Économie Numérique, Défi 2, sur le Mobile Money et l'inclusion financière au Togo.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Togo connaît une accélération d'Internet (rupture de tendance en 2015, 3,6 points par an contre 0,4 auparavant). Le mobile porte 99 % des abonnements Internet. Le Mobile Money compte 19 788 agents contre 724 établissements formels. La question centrale : quel rôle dans l'inclusion financière, et où des populations restent-elles à l'écart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Séries télécom disponibles de 2013 à 2019 uniquement : pas de données de couverture par technologie ni de 5G. Le chiffre d'affaires et l'investissement sont sectoriels, pas par opérateur.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Établissements retenus après audit (14 exclus car non opérationnels), export du 08/01/2025. Population : RGPH-5 2022. Absence dans la donnée ne signifie pas absence réelle sur le terrain.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contraste : 1 établissement formel pour 27,3 agents Mobile Money. 64 % des agents (12 649) proposent Moov et Togocom. Message prudent : le Mobile Money apporte de la proximité, il ne prouve pas à lui seul l'inclusion financière (usage, qualité, produits).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22 communes « MM-only » sont les communes où aucun établissement formel n'est recensé. Le maillage Mobile Money est dit ténu quand la densité d'agents est inférieure à la moitié de la moyenne nationale. Les distances sont calculées à vol d'oiseau.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Pondérations vérifiées : IB = 35 % C1 + 25 % C2 + 20 % C3 + 20 % C4 (recalcul exact sur la table des communes). C3 vaut 1 pour toute commune sans établissement formel. Le niveau de Mobile Money n'entre pas dans C3 : il sert au levier numérique qui départage P1 et P2.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noyau stable (10 communes dans le top 15 dans au moins 80 % de 2 000 tirages de pondérations, loi de Dirichlet uniforme) n'est pas identique au groupe P1 : P1 est défini par l'IB et le levier numérique. Population RGPH-5 2022, services 2024-2025.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Budgets en FCFA, valeurs centrales avec fourchette basse-haute. Le budget de R-F2 est conditionnel à l'étude de viabilité et n'est pas inclus dans le budget ferme. Le budget de S2 (685,7 M FCFA central, 391,8 à 1 119,5 M) est celui du scénario, non la somme des lignes. Les enquêtes et audits sont ponctuels. Les cibles chiffrées sont des repères relatifs (moyenne nationale), pas des normes.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à la problématique : le Mobile Money élargit fortement l'accès de proximité, mais l'accès physique n'est pas l'inclusion financière complète. Les 29 communes prioritaires concentrent les déficits. Prochaine étape : pilote R-F1 sur les communes P1, enquête TIC (R-I1) et audit (R-I5). Ouverture : 244 des 373 cantons sans établissement formel recensé.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63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Logo République Togolaise, Ministère de l'Efficacité du Service Public et de la Transformation Numérique, TOGO AI LA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28" y="256032"/>
            <a:ext cx="1920240" cy="1925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310128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TOGO NUMERIQUE INSIGHTS</a:t>
            </a:r>
          </a:p>
        </p:txBody>
      </p:sp>
      <p:sp>
        <p:nvSpPr>
          <p:cNvPr id="5" name="Shape 2"/>
          <p:cNvSpPr/>
          <p:nvPr/>
        </p:nvSpPr>
        <p:spPr>
          <a:xfrm>
            <a:off x="5455768" y="4370832"/>
            <a:ext cx="1280160" cy="0"/>
          </a:xfrm>
          <a:prstGeom prst="line">
            <a:avLst/>
          </a:prstGeom>
          <a:noFill/>
          <a:ln w="25400">
            <a:solidFill>
              <a:srgbClr val="FFCE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49884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kern="0" spc="100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  ·  ÉCONOMIE NUMÉRIQUE  ·  DÉFI 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672" y="5467739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672" y="5806067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</a:t>
            </a:r>
            <a:r>
              <a:rPr lang="en-US" sz="1300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Travaux </a:t>
            </a:r>
            <a:r>
              <a:rPr lang="en-US" sz="1300" dirty="0" err="1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0140" y="2302382"/>
            <a:ext cx="10728655" cy="618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TOGOLAISE</a:t>
            </a:r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l'Efficacité du Service Public et de la Transformation Numérique</a:t>
            </a:r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</a:t>
            </a:r>
            <a:endParaRPr lang="en-US" sz="1200" b="1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277E9E7-948F-24F1-5854-9E37786C4958}"/>
              </a:ext>
            </a:extLst>
          </p:cNvPr>
          <p:cNvSpPr/>
          <p:nvPr/>
        </p:nvSpPr>
        <p:spPr>
          <a:xfrm>
            <a:off x="731672" y="6172658"/>
            <a:ext cx="10728655" cy="618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</a:t>
            </a: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946A8DBC-96E6-2BA6-B9E5-8A18660FDA36}"/>
              </a:ext>
            </a:extLst>
          </p:cNvPr>
          <p:cNvSpPr/>
          <p:nvPr/>
        </p:nvSpPr>
        <p:spPr>
          <a:xfrm>
            <a:off x="883920" y="4857103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DU DASHBOARD</a:t>
            </a:r>
            <a:endParaRPr lang="en-US" sz="15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QUESTION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s'accélère grâce au mobile : l'accès aux services financiers suit-il 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Économie Numérique — Défi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82009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94360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53619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utilisant Internet, % de la population, 2000–2024</a:t>
            </a:r>
            <a:endParaRPr lang="en-US" sz="11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810512"/>
          <a:ext cx="5760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074920" y="1874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39,5 %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: rupture de 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0" y="1463040"/>
            <a:ext cx="2514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720840" y="15361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39,5 %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226771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Togolais utilisent Internet en 2024 (0,8 % en 2000)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235440" y="1463040"/>
            <a:ext cx="2514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9372600" y="15361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8,5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372600" y="226771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d'adoption depuis 2015 : 3,6 points par an contre 0,4 avant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583680" y="3154680"/>
            <a:ext cx="2514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720840" y="32278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99 %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39593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abonnements Internet sont mobiles (2019)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235440" y="3154680"/>
            <a:ext cx="2514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372600" y="32278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D2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19 788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9372600" y="39593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Mobile Money, contre 724 établissements financiers formels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4754880"/>
            <a:ext cx="11277295" cy="6858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47548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 </a:t>
            </a: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Mobile Money est devenu, pour de nombreux ménages, la porte d'entrée vers les services financiers. Quel rôle joue-t-il dans l'inclusion financière, et où les populations restent-elles à l'écart ?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594360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d'Internet : 0,8 % en 2000, 39,5 % en 2024 ; les gains ralentissent depuis 2022 (+1,9 point par an).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262018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4399178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4399178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L'adoption repose sur le mobile (81,9 cartes SIM pour 100 habitants en 2019) et sur un réseau d'agents Mobile Money en plein essor.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066837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03997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203997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d'agir, il faut mesurer ce que le Mobile Money apporte réellement à l'accès financier, et ce qu'il laisse de côté.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 · OBJECTIFS 1 ET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L'Internet togolais est mobile à 99 % : le haut débit progresse, mais la fibre reste marginale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Économie Numérique — Défi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82009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776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5361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de l'Internet mobile, % des abonnements</a:t>
            </a:r>
            <a:endParaRPr lang="en-US" sz="11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02920" y="1828800"/>
          <a:ext cx="3886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617720" y="1463040"/>
            <a:ext cx="39776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754880" y="15361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vs abonnés GSM (base 100 en 2013)</a:t>
            </a:r>
            <a:endParaRPr lang="en-US" sz="11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663440" y="1828800"/>
          <a:ext cx="3886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8778240" y="1463040"/>
            <a:ext cx="29562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915400" y="1536192"/>
            <a:ext cx="268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51,4 % / 48,6 %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8915400" y="196596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Togocom / Moov en 2019 : duopole (HHI 5 004)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778240" y="2468880"/>
            <a:ext cx="29562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915400" y="2542032"/>
            <a:ext cx="268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22,7 %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8915400" y="297180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chiffre d'affaires réinvesti (2013–2019)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778240" y="3474720"/>
            <a:ext cx="29562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915400" y="3547872"/>
            <a:ext cx="268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99,9 % / 32,3 %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8915400" y="397764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du haut débit 3G+4G : Togocom / Moov (2019)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778240" y="4480560"/>
            <a:ext cx="29562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8915400" y="4553712"/>
            <a:ext cx="268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D2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6 888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8915400" y="498348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 FTTH : 0,2 % de l'Internet (2019)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7200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594360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594360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2013 à 2019, les abonnés GSM progressent de 68 % (3,7 à 6,2 millions) pour un chiffre d'affaires en hausse de 3,5 %.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262018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4399178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4399178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grandit en volume mais peu en valeur ; la 4G ne pèse que 5,2 % et le haut débit varie fortement selon l'opérateur.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8066837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8203997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8203997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mobile est le canal naturel du numérique au Togo : c'est lui qui peut porter les services financiers de proximité.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FINANCIER FORMEL · OBJECTIFS 3 ET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réseau financier formel est concentré à Grand Lomé : 41 % des établissements pour 27 % de la population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Économie Numérique — Défi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82009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5661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financiers formels retenus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790279" cy="365760"/>
          </a:xfrm>
          <a:prstGeom prst="rect">
            <a:avLst/>
          </a:prstGeom>
          <a:solidFill>
            <a:srgbClr val="0E9F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0359" y="2606040"/>
            <a:ext cx="1074167" cy="36576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4526" y="2606040"/>
            <a:ext cx="296170" cy="365760"/>
          </a:xfrm>
          <a:prstGeom prst="rect">
            <a:avLst/>
          </a:prstGeom>
          <a:solidFill>
            <a:srgbClr val="FFCE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00696" y="2606040"/>
            <a:ext cx="39784" cy="365760"/>
          </a:xfrm>
          <a:prstGeom prst="rect">
            <a:avLst/>
          </a:prstGeom>
          <a:solidFill>
            <a:srgbClr val="D210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64408"/>
            <a:ext cx="146304" cy="146304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93592"/>
            <a:ext cx="146304" cy="146304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529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3529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22776"/>
            <a:ext cx="146304" cy="146304"/>
          </a:xfrm>
          <a:prstGeom prst="ellipse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3858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146304" cy="146304"/>
          </a:xfrm>
          <a:prstGeom prst="ellipse">
            <a:avLst/>
          </a:prstGeom>
          <a:solidFill>
            <a:srgbClr val="D21034"/>
          </a:solidFill>
          <a:ln w="12700">
            <a:solidFill>
              <a:srgbClr val="D210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Mutuelles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4187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572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communes sur 116 (81 %) ont au moins un établissement formel ; 22 n'en ont aucun.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1463040"/>
            <a:ext cx="4572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343400" y="1536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la population vs part des établissements formels, %</a:t>
            </a:r>
            <a:endParaRPr lang="en-US" sz="11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251960" y="1828800"/>
          <a:ext cx="44805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8961120" y="1463040"/>
            <a:ext cx="2773375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9098280" y="1536192"/>
            <a:ext cx="2499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D2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2,56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9098280" y="2116836"/>
            <a:ext cx="24990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entre Savanes (18 746 hab. par établissement) et Grand Lomé (7 319)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961120" y="2834640"/>
            <a:ext cx="2773375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9098280" y="2907792"/>
            <a:ext cx="2499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39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9098280" y="3488436"/>
            <a:ext cx="24990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préfectures à desserte formelle faible (&gt; 15 000 hab. par établissement)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961120" y="4206240"/>
            <a:ext cx="2773375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9098280" y="4279392"/>
            <a:ext cx="2499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11 182</a:t>
            </a:r>
            <a:endParaRPr lang="en-US" sz="2600" dirty="0"/>
          </a:p>
        </p:txBody>
      </p:sp>
      <p:sp>
        <p:nvSpPr>
          <p:cNvPr id="37" name="Text 34"/>
          <p:cNvSpPr txBox="1"/>
          <p:nvPr/>
        </p:nvSpPr>
        <p:spPr>
          <a:xfrm>
            <a:off x="9098280" y="4860036"/>
            <a:ext cx="24990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par établissement formel au niveau national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57200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594360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594360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Lomé regroupe 41,3 % des établissements pour 27,0 % de la population ; les Savanes n'en ont que 8,4 % pour 14,1 %.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62018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4399178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4399178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densité formelle est concentrée dans la capitale : hors Grand Lomé, les habitants disposent de moins d'établissements formels par personne.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066837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8203997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8203997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Grand Lomé, l'accès formel de proximité est plus rare : d'où l'importance d'examiner le rôle du Mobile Money.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· OBJECTIF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Mobile Money change l'échelle de l'accès : 27 agents pour chaque établissement formel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Économie Numérique — Défi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82009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2918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FORMEL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724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2880360"/>
            <a:ext cx="1188720" cy="11887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08760" y="28803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389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11 182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46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par établissement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86200" y="1463040"/>
            <a:ext cx="32918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069080" y="15727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MOBILE MONEY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1828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19 788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87368" y="2834640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7408" y="2834640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7448" y="2834640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47488" y="2834640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67528" y="2834640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7568" y="2834640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07608" y="2834640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7648" y="2834640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47688" y="2834640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87368" y="3218688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7408" y="3218688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27448" y="3218688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47488" y="3218688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67528" y="3218688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87568" y="3218688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07608" y="3218688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27648" y="3218688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47688" y="3218688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87368" y="3602736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07408" y="3602736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27448" y="3602736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47488" y="3602736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67528" y="3602736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87568" y="3602736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07608" y="3602736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27648" y="3602736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47688" y="3602736"/>
            <a:ext cx="246888" cy="24688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069080" y="3950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agents pour 1 établissement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069080" y="4389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</a:t>
            </a:r>
            <a:endParaRPr lang="en-US" sz="2800" dirty="0"/>
          </a:p>
        </p:txBody>
      </p:sp>
      <p:sp>
        <p:nvSpPr>
          <p:cNvPr id="47" name="Text 45"/>
          <p:cNvSpPr txBox="1"/>
          <p:nvPr/>
        </p:nvSpPr>
        <p:spPr>
          <a:xfrm>
            <a:off x="4069080" y="4846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par agent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566160" y="3154680"/>
            <a:ext cx="502920" cy="502920"/>
          </a:xfrm>
          <a:prstGeom prst="ellipse">
            <a:avLst/>
          </a:prstGeom>
          <a:solidFill>
            <a:srgbClr val="FFCE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5661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×27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60920" y="1463040"/>
            <a:ext cx="437357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7498080" y="1536192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selon les opérateurs proposés</a:t>
            </a:r>
            <a:endParaRPr lang="en-US" sz="1150" dirty="0"/>
          </a:p>
        </p:txBody>
      </p:sp>
      <p:graphicFrame>
        <p:nvGraphicFramePr>
          <p:cNvPr id="52" name="Chart 0"/>
          <p:cNvGraphicFramePr/>
          <p:nvPr/>
        </p:nvGraphicFramePr>
        <p:xfrm>
          <a:off x="7406640" y="1783080"/>
          <a:ext cx="4282135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3" name="Shape 50"/>
          <p:cNvSpPr/>
          <p:nvPr/>
        </p:nvSpPr>
        <p:spPr>
          <a:xfrm>
            <a:off x="7360920" y="3703320"/>
            <a:ext cx="4373575" cy="1691640"/>
          </a:xfrm>
          <a:prstGeom prst="rect">
            <a:avLst/>
          </a:prstGeom>
          <a:solidFill>
            <a:srgbClr val="FFF7E0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54" name="Text 51"/>
          <p:cNvSpPr txBox="1"/>
          <p:nvPr/>
        </p:nvSpPr>
        <p:spPr>
          <a:xfrm>
            <a:off x="7498080" y="3776472"/>
            <a:ext cx="4099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PROXIMITÉ ≠ INCLUSION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7498080" y="4041648"/>
            <a:ext cx="40992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mesurent l'accès physique : nombre d'agents, habitants par point, distance.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ne mesurent ni l'usage réel, ni la qualité du service, ni l'accès à l'épargne, au crédit ou à l'assurance.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7,7 % des agents sont à plus de 10 km d'un établissement formel.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457200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57" name="Text 54"/>
          <p:cNvSpPr txBox="1"/>
          <p:nvPr/>
        </p:nvSpPr>
        <p:spPr>
          <a:xfrm>
            <a:off x="594360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594360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19 788 agents Mobile Money pour 724 établissements formels : 27,3 agents par établissement, 409 habitants par agent.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4262018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60" name="Text 57"/>
          <p:cNvSpPr txBox="1"/>
          <p:nvPr/>
        </p:nvSpPr>
        <p:spPr>
          <a:xfrm>
            <a:off x="4399178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61" name="Text 58"/>
          <p:cNvSpPr txBox="1"/>
          <p:nvPr/>
        </p:nvSpPr>
        <p:spPr>
          <a:xfrm>
            <a:off x="4399178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Mobile Money offre un maillage de proximité bien plus dense ; 64 % des agents proposent les deux opérateurs.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8066837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63" name="Text 60"/>
          <p:cNvSpPr txBox="1"/>
          <p:nvPr/>
        </p:nvSpPr>
        <p:spPr>
          <a:xfrm>
            <a:off x="8203997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8203997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un levier majeur d'accès, mais la proximité physique ne garantit ni l'usage ni l'inclusion financière complète.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DISPARITÉS TERRITORIALES · OBJECTIF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communes n'ont aucun établissement formel : une forte présence du Mobile Money ne signifie pas une couverture parfaite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Économie Numérique — Défi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82009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pic>
        <p:nvPicPr>
          <p:cNvPr id="7" name="Image 0" descr="map_form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36192"/>
            <a:ext cx="2377440" cy="3749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971800" y="1600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desserte formelle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71800" y="2148840"/>
            <a:ext cx="164592" cy="164592"/>
          </a:xfrm>
          <a:prstGeom prst="ellipse">
            <a:avLst/>
          </a:prstGeom>
          <a:solidFill>
            <a:srgbClr val="D21034"/>
          </a:solidFill>
          <a:ln w="12700">
            <a:solidFill>
              <a:srgbClr val="D2103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(MM-only)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23225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communes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971800" y="2624328"/>
            <a:ext cx="164592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00400" y="2578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faible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27980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communes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971800" y="3099816"/>
            <a:ext cx="164592" cy="164592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00400" y="30540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200400" y="3273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communes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971800" y="3575304"/>
            <a:ext cx="164592" cy="164592"/>
          </a:xfrm>
          <a:prstGeom prst="ellipse">
            <a:avLst/>
          </a:prstGeom>
          <a:solidFill>
            <a:srgbClr val="7BC47F"/>
          </a:solidFill>
          <a:ln w="12700">
            <a:solidFill>
              <a:srgbClr val="7BC4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00400" y="35295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37490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communes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971800" y="4050792"/>
            <a:ext cx="164592" cy="1645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00400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3200400" y="4224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communes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63440" y="1463040"/>
            <a:ext cx="36576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4800600" y="153619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D2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759 599 hab.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4800600" y="2126894"/>
            <a:ext cx="338328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22 communes sans établissement formel (9,4 % de la population)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663440" y="2825496"/>
            <a:ext cx="36576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800600" y="289864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26,4 %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4800600" y="3489350"/>
            <a:ext cx="338328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vit dans une commune à accès formel nul ou très faible (43 communes)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663440" y="4187952"/>
            <a:ext cx="36576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4800600" y="426110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377 287 hab.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4800600" y="4851806"/>
            <a:ext cx="338328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9 communes sans établissement formel et à réseau Mobile Money ténu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503920" y="1463040"/>
            <a:ext cx="323057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641080" y="1554480"/>
            <a:ext cx="2956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21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DES DÉFICITS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641080" y="1810512"/>
            <a:ext cx="2956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communes</a:t>
            </a:r>
            <a:endParaRPr lang="en-US" sz="2600" dirty="0"/>
          </a:p>
        </p:txBody>
      </p:sp>
      <p:sp>
        <p:nvSpPr>
          <p:cNvPr id="36" name="Text 33"/>
          <p:cNvSpPr txBox="1"/>
          <p:nvPr/>
        </p:nvSpPr>
        <p:spPr>
          <a:xfrm>
            <a:off x="8641080" y="2286000"/>
            <a:ext cx="2956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établissement formel, avec un réseau Mobile Money ténu et à plus de 15 km du point formel le plus proche (247 505 hab.)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8641080" y="3063240"/>
            <a:ext cx="2956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Kpendjal 1 et 2, Keran 2 et 3, Blitta 3, Akebou 2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641080" y="3520440"/>
            <a:ext cx="2956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Communes sans établissement, par région</a:t>
            </a:r>
            <a:endParaRPr lang="en-US" sz="115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8549640" y="3749040"/>
          <a:ext cx="3139135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Shape 36"/>
          <p:cNvSpPr/>
          <p:nvPr/>
        </p:nvSpPr>
        <p:spPr>
          <a:xfrm>
            <a:off x="457200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41" name="Text 37"/>
          <p:cNvSpPr txBox="1"/>
          <p:nvPr/>
        </p:nvSpPr>
        <p:spPr>
          <a:xfrm>
            <a:off x="594360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594360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communes (759 599 hab.) n'ont aucun établissement formel ; 9 d'entre elles ont en plus un réseau Mobile Money ténu (&lt; ½ moyenne nationale).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4262018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44" name="Text 40"/>
          <p:cNvSpPr txBox="1"/>
          <p:nvPr/>
        </p:nvSpPr>
        <p:spPr>
          <a:xfrm>
            <a:off x="4399178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4399178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Mobile Money est l'unique accès de proximité dans ces communes, mais son maillage y est inégal : la présence nationale masque des poches.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8066837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47" name="Text 43"/>
          <p:cNvSpPr txBox="1"/>
          <p:nvPr/>
        </p:nvSpPr>
        <p:spPr>
          <a:xfrm>
            <a:off x="8203997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8203997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accès formel nul ou très faible touche plus d'un habitant sur quatre : le Mobile Money seul ne suffit pas à couvrir le territoire.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ET INDICE DE BESOIN · OBJECTIF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indice de besoin à quatre dimensions place en tête les 22 communes sans établissement formel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Économie Numérique — Défi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82009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548340" cy="457200"/>
          </a:xfrm>
          <a:prstGeom prst="homePlat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463040"/>
            <a:ext cx="1365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78692" y="1463040"/>
            <a:ext cx="1548340" cy="457200"/>
          </a:xfrm>
          <a:prstGeom prst="homePlat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24412" y="1463040"/>
            <a:ext cx="1365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00185" y="1463040"/>
            <a:ext cx="1548340" cy="457200"/>
          </a:xfrm>
          <a:prstGeom prst="homePlat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45905" y="1463040"/>
            <a:ext cx="1365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21677" y="1463040"/>
            <a:ext cx="1548340" cy="457200"/>
          </a:xfrm>
          <a:prstGeom prst="homePlat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67397" y="1463040"/>
            <a:ext cx="1365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3170" y="1463040"/>
            <a:ext cx="1548340" cy="457200"/>
          </a:xfrm>
          <a:prstGeom prst="homePlat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88890" y="1463040"/>
            <a:ext cx="1365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territoriale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64662" y="1463040"/>
            <a:ext cx="1548340" cy="457200"/>
          </a:xfrm>
          <a:prstGeom prst="homePlate">
            <a:avLst/>
          </a:prstGeom>
          <a:solidFill>
            <a:srgbClr val="006A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10382" y="1463040"/>
            <a:ext cx="1365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86155" y="1463040"/>
            <a:ext cx="1548340" cy="457200"/>
          </a:xfrm>
          <a:prstGeom prst="homePlat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31875" y="1463040"/>
            <a:ext cx="1365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198424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RGPH-5 2022 (INSEED) · établissements financiers (export 08/01/2025) · agents Mobile Money (export 19/12/2024) · Banque mondiale, IT.NET.USER.ZS · régulateur télécom 2013–2019. Échelles : 6 régions, 39 préfectures, 116 communes, 373 cantons.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393192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94360" y="2587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de l'indice de besoin (IB)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2926080"/>
            <a:ext cx="1280160" cy="457200"/>
          </a:xfrm>
          <a:prstGeom prst="rect">
            <a:avLst/>
          </a:prstGeom>
          <a:solidFill>
            <a:srgbClr val="006A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74520" y="2926080"/>
            <a:ext cx="914400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87452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88920" y="2926080"/>
            <a:ext cx="731520" cy="457200"/>
          </a:xfrm>
          <a:prstGeom prst="rect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88920" y="2926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20440" y="2926080"/>
            <a:ext cx="731520" cy="457200"/>
          </a:xfrm>
          <a:prstGeom prst="rect">
            <a:avLst/>
          </a:prstGeom>
          <a:solidFill>
            <a:srgbClr val="D210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20440" y="2926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3593592"/>
            <a:ext cx="146304" cy="146304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520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d'accès formel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014216"/>
            <a:ext cx="146304" cy="146304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démographique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434840"/>
            <a:ext cx="146304" cy="14630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4361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d'établissement formel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855464"/>
            <a:ext cx="146304" cy="146304"/>
          </a:xfrm>
          <a:prstGeom prst="ellipse">
            <a:avLst/>
          </a:prstGeom>
          <a:solidFill>
            <a:srgbClr val="D21034"/>
          </a:solidFill>
          <a:ln w="12700">
            <a:solidFill>
              <a:srgbClr val="D2103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4782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Isolement (distance)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5056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de 0 à 100 ; paliers par quartiles : P1 et P2 = quart supérieur.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2514600"/>
            <a:ext cx="448056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4709160" y="25877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communes au plus fort indice de besoin</a:t>
            </a:r>
            <a:endParaRPr lang="en-US" sz="1150" dirty="0"/>
          </a:p>
        </p:txBody>
      </p:sp>
      <p:graphicFrame>
        <p:nvGraphicFramePr>
          <p:cNvPr id="42" name="Chart 0"/>
          <p:cNvGraphicFramePr/>
          <p:nvPr/>
        </p:nvGraphicFramePr>
        <p:xfrm>
          <a:off x="4617720" y="2834640"/>
          <a:ext cx="43891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Shape 40"/>
          <p:cNvSpPr/>
          <p:nvPr/>
        </p:nvSpPr>
        <p:spPr>
          <a:xfrm>
            <a:off x="9235440" y="2514600"/>
            <a:ext cx="2499055" cy="2880360"/>
          </a:xfrm>
          <a:prstGeom prst="rect">
            <a:avLst/>
          </a:prstGeom>
          <a:solidFill>
            <a:srgbClr val="0B1F33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9372600" y="2651760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C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/ 22</a:t>
            </a:r>
            <a:endParaRPr lang="en-US" sz="3400" dirty="0"/>
          </a:p>
        </p:txBody>
      </p:sp>
      <p:sp>
        <p:nvSpPr>
          <p:cNvPr id="45" name="Text 42"/>
          <p:cNvSpPr txBox="1"/>
          <p:nvPr/>
        </p:nvSpPr>
        <p:spPr>
          <a:xfrm>
            <a:off x="9372600" y="3337560"/>
            <a:ext cx="2224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22 communes sans établissement formel occupent les 22 premiers rangs de l'indice.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9372600" y="4297680"/>
            <a:ext cx="2224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759 599 habitants, 9,4 % de la population.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9372600" y="4937760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: P1 · Orange : P2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57200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594360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L'IB combine déficit d'accès (35 %), population (25 %), absence d'établissement formel (20 %) et isolement (20 %).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4262018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52" name="Text 49"/>
          <p:cNvSpPr txBox="1"/>
          <p:nvPr/>
        </p:nvSpPr>
        <p:spPr>
          <a:xfrm>
            <a:off x="4399178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4399178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classement est dominé par l'absence de tout établissement formel, et non par la seule taille de la population.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8066837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55" name="Text 52"/>
          <p:cNvSpPr txBox="1"/>
          <p:nvPr/>
        </p:nvSpPr>
        <p:spPr>
          <a:xfrm>
            <a:off x="8203997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8203997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est simple, traçable et testable : elle permet de désigner des communes précises plutôt que des régions.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· OBJECTIF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communes concentrent les principaux déficits d'accès : 1,37 million d'habitants, soit 16,9 % de la population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Économie Numérique — Défi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82009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pic>
        <p:nvPicPr>
          <p:cNvPr id="7" name="Image 0" descr="map_pal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36192"/>
            <a:ext cx="2377440" cy="3703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17520" y="2066544"/>
            <a:ext cx="164592" cy="164592"/>
          </a:xfrm>
          <a:prstGeom prst="ellipse">
            <a:avLst/>
          </a:prstGeom>
          <a:solidFill>
            <a:srgbClr val="D21034"/>
          </a:solidFill>
          <a:ln w="12700">
            <a:solidFill>
              <a:srgbClr val="D2103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46120" y="2011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10 communes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17520" y="2523744"/>
            <a:ext cx="164592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46120" y="24688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19 communes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17520" y="2980944"/>
            <a:ext cx="164592" cy="164592"/>
          </a:xfrm>
          <a:prstGeom prst="ellipse">
            <a:avLst/>
          </a:prstGeom>
          <a:solidFill>
            <a:srgbClr val="B8C2CC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46120" y="29260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communes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7680" y="1463040"/>
            <a:ext cx="1158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343400" y="1508760"/>
            <a:ext cx="106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4343400" y="2148840"/>
            <a:ext cx="106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593080" y="1463040"/>
            <a:ext cx="1158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638800" y="1508760"/>
            <a:ext cx="106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2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5638800" y="2148840"/>
            <a:ext cx="106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88480" y="1463040"/>
            <a:ext cx="1158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934200" y="1508760"/>
            <a:ext cx="106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400" dirty="0"/>
          </a:p>
        </p:txBody>
      </p:sp>
      <p:sp>
        <p:nvSpPr>
          <p:cNvPr id="22" name="Text 19"/>
          <p:cNvSpPr txBox="1"/>
          <p:nvPr/>
        </p:nvSpPr>
        <p:spPr>
          <a:xfrm>
            <a:off x="6934200" y="2148840"/>
            <a:ext cx="106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297680" y="2697480"/>
            <a:ext cx="3749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43484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1 369 893 habitants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443484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: 288 099 hab.  ·  P2 : 1 081 794 hab.  ·  16,9 % de la population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97680" y="3886200"/>
            <a:ext cx="3749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443484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lire les paliers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4434840" y="422452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D21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élevé et levier numérique (Mobile Money) déjà présent : intervention rapide.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élevé mais levier faible : renforcement structurel d'abord.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229600" y="1463040"/>
            <a:ext cx="350489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366760" y="1536192"/>
            <a:ext cx="3230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en P1/P2 par région (habitants)</a:t>
            </a:r>
            <a:endParaRPr lang="en-US" sz="115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8275320" y="1783080"/>
          <a:ext cx="3413455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Shape 28"/>
          <p:cNvSpPr/>
          <p:nvPr/>
        </p:nvSpPr>
        <p:spPr>
          <a:xfrm>
            <a:off x="8229600" y="3886200"/>
            <a:ext cx="3504895" cy="1508760"/>
          </a:xfrm>
          <a:prstGeom prst="rect">
            <a:avLst/>
          </a:prstGeom>
          <a:solidFill>
            <a:srgbClr val="0B1F33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8366760" y="3950208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8366760" y="4206240"/>
            <a:ext cx="3230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C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2 000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pondérations aléatoires testées : 10 communes restent dans le top 15 dans au moins 80 % des tirages.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schémas de pondération comparés.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457200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594360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594360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communes P1 et 19 P2 ; Kpendjal est la seule préfecture entièrement concernée (100 %, 88 365 hab.).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262018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9" name="Text 35"/>
          <p:cNvSpPr txBox="1"/>
          <p:nvPr/>
        </p:nvSpPr>
        <p:spPr>
          <a:xfrm>
            <a:off x="4399178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4399178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ciblage n'est pas arbitraire : il résiste à 2 000 variations de pondération, avec un noyau stable de 10 communes.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8066837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42" name="Text 38"/>
          <p:cNvSpPr txBox="1"/>
          <p:nvPr/>
        </p:nvSpPr>
        <p:spPr>
          <a:xfrm>
            <a:off x="8203997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8203997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peut passer de l'échelle nationale à une liste courte de communes où intervenir, phase par phase.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· OBJECTIF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leviers ciblés transforment le constat en plan d'action chiffré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Économie Numérique — Défi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82009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77295" cy="32918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14630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4630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14630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14630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suivi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561320" y="1463040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central (fourchette)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792224"/>
            <a:ext cx="1127729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011680"/>
            <a:ext cx="237744" cy="237744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179222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R-F1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179222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communes sans établissement formel à ≤ 15 km d'un pôle · 469 719 hab.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79222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banques/IMF et opérateurs Mobile Money : agents bancaires, guichets mobiles rattachés au pôle (47 points)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179222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à moyen terme ; pilote sur les communes P1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179222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Communes sans établissement ; distance médiane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0" y="1792224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446,5 M FCFA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(253,8 – 728,5 M)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523744"/>
            <a:ext cx="11277295" cy="731520"/>
          </a:xfrm>
          <a:prstGeom prst="rect">
            <a:avLst/>
          </a:prstGeom>
          <a:solidFill>
            <a:srgbClr val="FBFCFD"/>
          </a:solidFill>
          <a:ln w="9525">
            <a:solidFill>
              <a:srgbClr val="E6EB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743200"/>
            <a:ext cx="237744" cy="237744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25237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Densification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R-F3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252374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communes P1/P2 à établissement unique · 610 294 hab.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252374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point ou guichet déporté dans les communes peuplées (46 points)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252374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25237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par établissement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0" y="2523744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239,2 M FCFA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(138,0 – 391,0 M)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255264"/>
            <a:ext cx="1127729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474720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325526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Pôles fragiles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R-F6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32552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pôles de 2 établissements ou moins desservant des communes sans établissement · 277 655 hab.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325526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les pôles avant ou avec l'extension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325526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325526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établissements par pôle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0" y="3255264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 M FCFA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(15,0 – 42,5 M)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986784"/>
            <a:ext cx="11277295" cy="731520"/>
          </a:xfrm>
          <a:prstGeom prst="rect">
            <a:avLst/>
          </a:prstGeom>
          <a:solidFill>
            <a:srgbClr val="FBFCFD"/>
          </a:solidFill>
          <a:ln w="9525">
            <a:solidFill>
              <a:srgbClr val="E6EB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206240"/>
            <a:ext cx="237744" cy="237744"/>
          </a:xfrm>
          <a:prstGeom prst="ellipse">
            <a:avLst/>
          </a:prstGeom>
          <a:solidFill>
            <a:srgbClr val="D21034"/>
          </a:solidFill>
          <a:ln w="12700">
            <a:solidFill>
              <a:srgbClr val="D2103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8680" y="398678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Territoires isolés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R-F2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2423160" y="398678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communes à plus de 15 km d'un point formel · 289 880 hab.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800600" y="398678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viabilité (point relais ou agence mobile) avant toute implantation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863840" y="398678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terme, sous condition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961120" y="398678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médiane ; maillage ténu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0" y="3986784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675 M FCFA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conditionnel (420 – 990 M)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718304"/>
            <a:ext cx="1127729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4937760"/>
            <a:ext cx="237744" cy="23774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68680" y="471830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/ TIC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R-I1, R-I5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2423160" y="471830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d'usage Internet par territoire ; 9 communes à maillage ténu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4800600" y="471830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ménages TIC (région/préfecture) et audit couverture et collecte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7863840" y="471830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8961120" y="471830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par région ; population couverte 3G/4G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0" y="4718304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 + 25 M FCFA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+ audit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594360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94360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leviers portent sur l'accès formel et un cinquième sur la donnée Internet ; le scénario S2 couvre les 29 communes pour 685,7 M FCFA (central, ferme).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262018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4399178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399178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actions sont graduées : agir là où c'est justifié par les données, étudier avant d'investir là où la viabilité est incertaine.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066837" y="5559552"/>
            <a:ext cx="366765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BF1"/>
            </a:solidFill>
            <a:prstDash val="solid"/>
          </a:ln>
          <a:effectLst>
            <a:outerShdw blurRad="76200" dist="1905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8203997" y="5623560"/>
            <a:ext cx="3393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8203997" y="5815584"/>
            <a:ext cx="3393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par le scénario S1 (10 communes, 237,5 M FCFA central), puis étendre vers S2 selon les résultats du pilote.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COUVERTURE À L'INCLUSION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: le Mobile Money élargit l'accès, il ne suffit pas à lui seul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223760" cy="868680"/>
          </a:xfrm>
          <a:prstGeom prst="rect">
            <a:avLst/>
          </a:prstGeom>
          <a:solidFill>
            <a:srgbClr val="14304D"/>
          </a:solidFill>
          <a:ln w="9525">
            <a:solidFill>
              <a:srgbClr val="1F42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6212"/>
            <a:ext cx="402336" cy="402336"/>
          </a:xfrm>
          <a:prstGeom prst="ellipse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962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630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montre l'analyse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à 39,5 % en 2024 ; 19 788 agents Mobile Money contre 724 établissements formels.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7223760" cy="868680"/>
          </a:xfrm>
          <a:prstGeom prst="rect">
            <a:avLst/>
          </a:prstGeom>
          <a:solidFill>
            <a:srgbClr val="14304D"/>
          </a:solidFill>
          <a:ln w="9525">
            <a:solidFill>
              <a:srgbClr val="1F42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683764"/>
            <a:ext cx="402336" cy="402336"/>
          </a:xfrm>
          <a:prstGeom prst="ellipse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837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45059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Mobile Money permet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proximité 27 fois plus dense : 409 habitants par agent contre 11 182 par établissement.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38144"/>
            <a:ext cx="7223760" cy="868680"/>
          </a:xfrm>
          <a:prstGeom prst="rect">
            <a:avLst/>
          </a:prstGeom>
          <a:solidFill>
            <a:srgbClr val="14304D"/>
          </a:solidFill>
          <a:ln w="9525">
            <a:solidFill>
              <a:srgbClr val="1F42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671316"/>
            <a:ext cx="402336" cy="402336"/>
          </a:xfrm>
          <a:prstGeom prst="ellipse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6713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38144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ne résout pas encore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formel nul ou très faible pour 26,4 % de la population ; usage et qualité non mesurés.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425696"/>
            <a:ext cx="7223760" cy="868680"/>
          </a:xfrm>
          <a:prstGeom prst="rect">
            <a:avLst/>
          </a:prstGeom>
          <a:solidFill>
            <a:srgbClr val="14304D"/>
          </a:solidFill>
          <a:ln w="9525">
            <a:solidFill>
              <a:srgbClr val="1F42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658868"/>
            <a:ext cx="402336" cy="402336"/>
          </a:xfrm>
          <a:prstGeom prst="ellipse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46588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425696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agir en priorité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communes (10 P1, 19 P2) : 1 369 893 habitants, 16,9 % de la population.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13248"/>
            <a:ext cx="7223760" cy="868680"/>
          </a:xfrm>
          <a:prstGeom prst="rect">
            <a:avLst/>
          </a:prstGeom>
          <a:solidFill>
            <a:srgbClr val="14304D"/>
          </a:solidFill>
          <a:ln w="9525">
            <a:solidFill>
              <a:srgbClr val="1F42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5646420"/>
            <a:ext cx="402336" cy="402336"/>
          </a:xfrm>
          <a:prstGeom prst="ellipse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56464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41324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d'extension dans les communes P1, enquête ménages TIC et audit dans les 12 premiers mois.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09560" y="1463040"/>
            <a:ext cx="3824935" cy="292608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0" y="1463040"/>
            <a:ext cx="336773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Mobile Money a posé l'infrastructure de proximité ; l'inclusion se joue désormais dans les 29 communes où les services formels ne suivent pas encore.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7909560" y="4526280"/>
            <a:ext cx="3824935" cy="1783080"/>
          </a:xfrm>
          <a:prstGeom prst="rect">
            <a:avLst/>
          </a:prstGeom>
          <a:solidFill>
            <a:srgbClr val="14304D"/>
          </a:solidFill>
          <a:ln w="9525">
            <a:solidFill>
              <a:srgbClr val="1F426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0" y="4599432"/>
            <a:ext cx="3550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VIGILANCE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4892040"/>
            <a:ext cx="3550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2022 (RGPH-5) et services 2024–2025</a:t>
            </a:r>
            <a:endParaRPr lang="en-US" sz="11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à vol d'oiseau</a:t>
            </a:r>
            <a:endParaRPr lang="en-US" sz="11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recensée ≠ absence réelle</a:t>
            </a:r>
            <a:endParaRPr lang="en-US" sz="11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d'usage Internet par territoire ; télécoms 2013–2019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Économie Numérique — Défi 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82009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2611</Words>
  <Application>Microsoft Office PowerPoint</Application>
  <PresentationFormat>Grand écran</PresentationFormat>
  <Paragraphs>301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Togo Numérique Insights — Mobile Money et inclusion financière</dc:title>
  <dc:subject>PptxGenJS Presentation</dc:subject>
  <dc:creator>DAYO Kokou Cyrille</dc:creator>
  <cp:lastModifiedBy>Kokou Cyrille DAYO</cp:lastModifiedBy>
  <cp:revision>2</cp:revision>
  <dcterms:created xsi:type="dcterms:W3CDTF">2026-09-28T21:04:58Z</dcterms:created>
  <dcterms:modified xsi:type="dcterms:W3CDTF">2026-09-28T21:40:46Z</dcterms:modified>
</cp:coreProperties>
</file>